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61" r:id="rId4"/>
    <p:sldId id="260" r:id="rId5"/>
    <p:sldId id="262" r:id="rId6"/>
    <p:sldId id="277" r:id="rId7"/>
    <p:sldId id="263" r:id="rId8"/>
    <p:sldId id="264" r:id="rId9"/>
    <p:sldId id="267" r:id="rId10"/>
    <p:sldId id="278" r:id="rId11"/>
    <p:sldId id="266" r:id="rId12"/>
    <p:sldId id="270" r:id="rId13"/>
    <p:sldId id="279" r:id="rId14"/>
    <p:sldId id="271" r:id="rId15"/>
    <p:sldId id="272" r:id="rId16"/>
    <p:sldId id="273" r:id="rId17"/>
    <p:sldId id="274" r:id="rId18"/>
    <p:sldId id="275" r:id="rId19"/>
    <p:sldId id="259" r:id="rId20"/>
  </p:sldIdLst>
  <p:sldSz cx="12192000" cy="6858000"/>
  <p:notesSz cx="6858000" cy="9144000"/>
  <p:embeddedFontLs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0022"/>
            <a:ext cx="12190815" cy="642340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312" y="3429000"/>
            <a:ext cx="7246189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2800" b="1" dirty="0">
                <a:solidFill>
                  <a:srgbClr val="C00000"/>
                </a:solidFill>
              </a:rPr>
              <a:t>Web Scrapping on the website – Ambition Box</a:t>
            </a:r>
            <a:endParaRPr sz="2800" b="1" dirty="0">
              <a:solidFill>
                <a:srgbClr val="C00000"/>
              </a:solidFill>
            </a:endParaRPr>
          </a:p>
        </p:txBody>
      </p:sp>
      <p:sp>
        <p:nvSpPr>
          <p:cNvPr id="5" name="Google Shape;99;p1">
            <a:extLst>
              <a:ext uri="{FF2B5EF4-FFF2-40B4-BE49-F238E27FC236}">
                <a16:creationId xmlns:a16="http://schemas.microsoft.com/office/drawing/2014/main" id="{CBD6422E-9B96-7893-ADF6-EC0938939801}"/>
              </a:ext>
            </a:extLst>
          </p:cNvPr>
          <p:cNvSpPr txBox="1"/>
          <p:nvPr/>
        </p:nvSpPr>
        <p:spPr>
          <a:xfrm>
            <a:off x="2472311" y="4530651"/>
            <a:ext cx="7246189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200" b="1" dirty="0">
                <a:solidFill>
                  <a:schemeClr val="tx1"/>
                </a:solidFill>
              </a:rPr>
              <a:t>Presented By</a:t>
            </a:r>
          </a:p>
          <a:p>
            <a:pPr lvl="0" algn="ctr"/>
            <a:r>
              <a:rPr lang="en-IN" sz="2400" b="1" dirty="0">
                <a:solidFill>
                  <a:srgbClr val="C00000"/>
                </a:solidFill>
              </a:rPr>
              <a:t>Naga Lakshmi</a:t>
            </a:r>
          </a:p>
          <a:p>
            <a:pPr lvl="0" algn="ctr"/>
            <a:r>
              <a:rPr lang="en-IN" sz="2400" b="1" dirty="0">
                <a:solidFill>
                  <a:srgbClr val="C00000"/>
                </a:solidFill>
              </a:rPr>
              <a:t>Zakia Tafheem</a:t>
            </a:r>
          </a:p>
          <a:p>
            <a:pPr lvl="0" algn="ctr"/>
            <a:r>
              <a:rPr lang="en-IN" sz="2400" b="1" dirty="0">
                <a:solidFill>
                  <a:srgbClr val="C00000"/>
                </a:solidFill>
              </a:rPr>
              <a:t>Sunanda Tadi</a:t>
            </a:r>
            <a:endParaRPr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20D8-C136-040A-3D8A-5FA05217A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588"/>
          </a:xfrm>
        </p:spPr>
        <p:txBody>
          <a:bodyPr/>
          <a:lstStyle/>
          <a:p>
            <a:r>
              <a:rPr lang="en-IN" dirty="0"/>
              <a:t>Website - Ambition 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53C85-B0FF-BE91-8B23-EBBF82144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56" y="1045369"/>
            <a:ext cx="9996488" cy="39076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C6E28D-FE6A-E380-F94A-C550BA8FDB23}"/>
              </a:ext>
            </a:extLst>
          </p:cNvPr>
          <p:cNvSpPr txBox="1"/>
          <p:nvPr/>
        </p:nvSpPr>
        <p:spPr>
          <a:xfrm>
            <a:off x="1127760" y="5318760"/>
            <a:ext cx="9996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AmbitionBox</a:t>
            </a:r>
            <a:r>
              <a:rPr lang="en-US" sz="2400" dirty="0"/>
              <a:t> is a place we are extracting the company names they rating ,review count and from company sector we are getting locations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742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C859-A4E4-81C2-6008-0C2734A6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30E4-8FA5-DFED-5C25-7ABE9699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31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Objective of the Project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BEB3B-03CB-597B-ABED-B39141F9A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7013"/>
            <a:ext cx="10515600" cy="1325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main objective of this project is to automatically extract and analyze company data from Ambition Box using web scraping techniques.</a:t>
            </a:r>
            <a:endParaRPr lang="en-US" sz="2400" dirty="0"/>
          </a:p>
          <a:p>
            <a:pPr algn="just"/>
            <a:endParaRPr lang="en-IN" sz="2400" dirty="0"/>
          </a:p>
          <a:p>
            <a:pPr marL="114300" indent="0" algn="just">
              <a:buNone/>
            </a:pPr>
            <a:endParaRPr lang="en-IN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FB664B-1637-5FB9-F40B-BBC6D5FC17BE}"/>
              </a:ext>
            </a:extLst>
          </p:cNvPr>
          <p:cNvSpPr txBox="1">
            <a:spLocks/>
          </p:cNvSpPr>
          <p:nvPr/>
        </p:nvSpPr>
        <p:spPr>
          <a:xfrm>
            <a:off x="838200" y="3040457"/>
            <a:ext cx="10515600" cy="77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C00000"/>
                </a:solidFill>
              </a:rPr>
              <a:t>Tools &amp; Libraries Used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E95564A-6B0D-0C6E-03C2-F1BA08056C2E}"/>
              </a:ext>
            </a:extLst>
          </p:cNvPr>
          <p:cNvSpPr txBox="1">
            <a:spLocks/>
          </p:cNvSpPr>
          <p:nvPr/>
        </p:nvSpPr>
        <p:spPr>
          <a:xfrm>
            <a:off x="838200" y="3849679"/>
            <a:ext cx="10515600" cy="22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dirty="0"/>
              <a:t>Python </a:t>
            </a:r>
          </a:p>
          <a:p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 err="1"/>
              <a:t>BeautifulSoup</a:t>
            </a:r>
            <a:r>
              <a:rPr lang="en-IN" dirty="0"/>
              <a:t> / Requests  (find and </a:t>
            </a:r>
            <a:r>
              <a:rPr lang="en-IN" dirty="0" err="1"/>
              <a:t>find_all</a:t>
            </a:r>
            <a:r>
              <a:rPr lang="en-IN" dirty="0"/>
              <a:t>)</a:t>
            </a:r>
          </a:p>
          <a:p>
            <a:r>
              <a:rPr lang="en-IN" dirty="0"/>
              <a:t>Pandas &amp; NumPy</a:t>
            </a:r>
          </a:p>
          <a:p>
            <a:r>
              <a:rPr lang="en-IN" dirty="0"/>
              <a:t>Matplotlib / Seaborn </a:t>
            </a:r>
          </a:p>
          <a:p>
            <a:endParaRPr lang="en-IN" sz="2400" dirty="0"/>
          </a:p>
          <a:p>
            <a:pPr marL="114300" indent="0">
              <a:buFont typeface="Arial"/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42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B42C-BBCD-B2C1-57B5-8650AEB3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Business Problem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07335-E83E-2DA5-4310-A78D01A3A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Companies and job seekers require </a:t>
            </a:r>
            <a:r>
              <a:rPr lang="en-US" sz="2400" b="1" dirty="0"/>
              <a:t>reliable and up-to-date organizational insights</a:t>
            </a:r>
            <a:r>
              <a:rPr lang="en-US" sz="2400" dirty="0"/>
              <a:t> to make informed </a:t>
            </a:r>
            <a:r>
              <a:rPr lang="en-US" sz="2400" b="1" dirty="0"/>
              <a:t>career and hiring decisions.</a:t>
            </a:r>
          </a:p>
          <a:p>
            <a:pPr algn="just"/>
            <a:r>
              <a:rPr lang="en-US" sz="2400" dirty="0"/>
              <a:t>Key information such as </a:t>
            </a:r>
            <a:r>
              <a:rPr lang="en-US" sz="2400" b="1" dirty="0"/>
              <a:t>company ratings, salaries, reviews, company sectors, benefits</a:t>
            </a:r>
            <a:r>
              <a:rPr lang="en-US" sz="2400" dirty="0"/>
              <a:t> plays a crucial role in decision-making.</a:t>
            </a:r>
          </a:p>
          <a:p>
            <a:pPr algn="just"/>
            <a:r>
              <a:rPr lang="en-US" sz="2400" dirty="0"/>
              <a:t>This information is often </a:t>
            </a:r>
            <a:r>
              <a:rPr lang="en-US" sz="2400" b="1" dirty="0"/>
              <a:t>scattered</a:t>
            </a:r>
            <a:r>
              <a:rPr lang="en-US" sz="2400" dirty="0"/>
              <a:t> across multiple web pages, making it difficult to access in a structured manner.</a:t>
            </a:r>
          </a:p>
          <a:p>
            <a:pPr algn="just"/>
            <a:r>
              <a:rPr lang="en-US" sz="2400" dirty="0"/>
              <a:t>Due to the lack of structured insights, users may struggle to compare companies effectively or identify trends. This project addresses the problem by web scraping data from the </a:t>
            </a:r>
            <a:r>
              <a:rPr lang="en-US" sz="2400" dirty="0" err="1"/>
              <a:t>AmbitionBox</a:t>
            </a:r>
            <a:r>
              <a:rPr lang="en-US" sz="2400" dirty="0"/>
              <a:t> website.</a:t>
            </a: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286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6A9C-9CFA-B4C8-EE2D-2CB0E468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C4B0-B453-F055-47C2-816032BE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Web Scraping – Details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D9407-3DA0-FD41-1A55-DDE9AC863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Understanding Website Structure</a:t>
            </a:r>
          </a:p>
          <a:p>
            <a:r>
              <a:rPr lang="en-IN" dirty="0"/>
              <a:t>Sending HTTP Requests(</a:t>
            </a:r>
            <a:r>
              <a:rPr lang="en-IN" dirty="0" err="1"/>
              <a:t>requests.get</a:t>
            </a:r>
            <a:r>
              <a:rPr lang="en-IN" dirty="0"/>
              <a:t>() to fetch webpage content)</a:t>
            </a:r>
          </a:p>
          <a:p>
            <a:r>
              <a:rPr lang="en-IN" dirty="0"/>
              <a:t>Parsing HTML Content </a:t>
            </a:r>
          </a:p>
          <a:p>
            <a:r>
              <a:rPr lang="en-IN" dirty="0"/>
              <a:t>Data Extracted ( </a:t>
            </a:r>
            <a:r>
              <a:rPr lang="en-IN" dirty="0" err="1"/>
              <a:t>Company_names,Sectors,Salaries,Reviews</a:t>
            </a:r>
            <a:r>
              <a:rPr lang="en-IN" dirty="0"/>
              <a:t>)</a:t>
            </a:r>
          </a:p>
          <a:p>
            <a:r>
              <a:rPr lang="en-IN" dirty="0"/>
              <a:t>Handling Pagination(</a:t>
            </a:r>
            <a:r>
              <a:rPr lang="en-US" dirty="0"/>
              <a:t>Used loops to scrape multiple pages)</a:t>
            </a:r>
            <a:endParaRPr lang="en-IN" dirty="0"/>
          </a:p>
          <a:p>
            <a:r>
              <a:rPr lang="en-IN" dirty="0"/>
              <a:t>Data Storage </a:t>
            </a:r>
            <a:endParaRPr lang="en-US" sz="2400" dirty="0"/>
          </a:p>
          <a:p>
            <a:endParaRPr lang="en-IN" sz="2400" dirty="0"/>
          </a:p>
        </p:txBody>
      </p:sp>
      <p:sp>
        <p:nvSpPr>
          <p:cNvPr id="5" name="AutoShape 2" descr="1️⃣">
            <a:extLst>
              <a:ext uri="{FF2B5EF4-FFF2-40B4-BE49-F238E27FC236}">
                <a16:creationId xmlns:a16="http://schemas.microsoft.com/office/drawing/2014/main" id="{E317C81E-6DD8-E78B-85D4-3F8E4FC360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8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1️⃣">
            <a:extLst>
              <a:ext uri="{FF2B5EF4-FFF2-40B4-BE49-F238E27FC236}">
                <a16:creationId xmlns:a16="http://schemas.microsoft.com/office/drawing/2014/main" id="{C3671E9B-0F70-9328-6442-2CE9DFB9FF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25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91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2008-45BE-73F8-B5E0-6942E769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7111"/>
            <a:ext cx="10515600" cy="50355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 err="1"/>
              <a:t>Webscraping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B070F-8D61-4483-F427-93CDD672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14" y="1057276"/>
            <a:ext cx="6668086" cy="52018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3D9341-E23D-A07A-F5A2-60C4EAD4776F}"/>
              </a:ext>
            </a:extLst>
          </p:cNvPr>
          <p:cNvSpPr txBox="1"/>
          <p:nvPr/>
        </p:nvSpPr>
        <p:spPr>
          <a:xfrm>
            <a:off x="7833360" y="1057276"/>
            <a:ext cx="37877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We have performed web scraping on </a:t>
            </a:r>
            <a:r>
              <a:rPr lang="en-US" sz="2400" dirty="0" err="1"/>
              <a:t>AmbitionBox</a:t>
            </a:r>
            <a:r>
              <a:rPr lang="en-US" sz="2400" dirty="0"/>
              <a:t> using requests and </a:t>
            </a:r>
            <a:r>
              <a:rPr lang="en-US" sz="2400" dirty="0" err="1"/>
              <a:t>BeautifulSoup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It iterates through multiple pages, extracts company details like name, rating, reviews, and salary information. The extracted data is then structured and stored for further analysis.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4451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6E2C3-124D-EBE0-0390-3643F419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F794-7FCE-1A32-A38A-A6397C55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1"/>
            <a:ext cx="10515600" cy="5207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Raw Data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AutoShape 2" descr="1️⃣">
            <a:extLst>
              <a:ext uri="{FF2B5EF4-FFF2-40B4-BE49-F238E27FC236}">
                <a16:creationId xmlns:a16="http://schemas.microsoft.com/office/drawing/2014/main" id="{545CA820-1C23-55D6-BC4D-8868822AC8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8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 descr="1️⃣">
            <a:extLst>
              <a:ext uri="{FF2B5EF4-FFF2-40B4-BE49-F238E27FC236}">
                <a16:creationId xmlns:a16="http://schemas.microsoft.com/office/drawing/2014/main" id="{54A8628C-9259-851A-824B-EE2CDAA850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25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EFE19-5BCE-EF59-681B-9551F0B67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65" y="942975"/>
            <a:ext cx="10492069" cy="529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6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D11C-1D92-0808-1FA9-71F8F80A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A477-D0DC-04D4-C12A-A3630F44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63" y="151517"/>
            <a:ext cx="10515600" cy="114864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 Cleaning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6CC70-59AB-BE6A-977C-9B8FC77D7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595437"/>
            <a:ext cx="3331308" cy="3667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F59A10-F608-AF73-1F3A-E4F416B8650C}"/>
              </a:ext>
            </a:extLst>
          </p:cNvPr>
          <p:cNvSpPr txBox="1"/>
          <p:nvPr/>
        </p:nvSpPr>
        <p:spPr>
          <a:xfrm>
            <a:off x="5180234" y="1595437"/>
            <a:ext cx="6507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Checked missing values using </a:t>
            </a:r>
            <a:r>
              <a:rPr lang="en-US" sz="2400" dirty="0" err="1"/>
              <a:t>df.isnull</a:t>
            </a:r>
            <a:r>
              <a:rPr lang="en-US" sz="2400" dirty="0"/>
              <a:t>().sum().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All columns have 0 missing values except locations (1 missing value).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Dataset is almost completely clean with negligible null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Checked duplicates using </a:t>
            </a:r>
            <a:r>
              <a:rPr lang="en-US" sz="2400" dirty="0" err="1"/>
              <a:t>df.duplicated</a:t>
            </a:r>
            <a:r>
              <a:rPr lang="en-US" sz="2400" dirty="0"/>
              <a:t>().sum() — no duplicate records found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42E93-F3CD-4C48-7C30-D7DB8AD0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6" b="90550"/>
          <a:stretch>
            <a:fillRect/>
          </a:stretch>
        </p:blipFill>
        <p:spPr>
          <a:xfrm>
            <a:off x="426720" y="5196838"/>
            <a:ext cx="3825240" cy="4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1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F1E8-3F30-A69B-2998-AEABA0FC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034B-B487-9FD0-E58F-130865E0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243"/>
            <a:ext cx="10515600" cy="69783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 Cleaning – Detecting Outliers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433AA-5087-8F6B-C48D-58AD83448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4149"/>
            <a:ext cx="5801535" cy="4486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B05454-2664-981A-ED89-B911F7BB3A44}"/>
              </a:ext>
            </a:extLst>
          </p:cNvPr>
          <p:cNvSpPr txBox="1"/>
          <p:nvPr/>
        </p:nvSpPr>
        <p:spPr>
          <a:xfrm>
            <a:off x="6842760" y="1210775"/>
            <a:ext cx="48158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Reviews_count</a:t>
            </a:r>
            <a:r>
              <a:rPr lang="en-US" sz="2400" dirty="0"/>
              <a:t> also contains several outliers, suggesting some companies have unusually high review numbers.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salary_count</a:t>
            </a:r>
            <a:r>
              <a:rPr lang="en-US" sz="2400" dirty="0"/>
              <a:t> feature shows significant outliers, indicating high variability and extreme values.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Features like ratings, </a:t>
            </a:r>
            <a:r>
              <a:rPr lang="en-US" sz="2400" dirty="0" err="1"/>
              <a:t>interview_count</a:t>
            </a:r>
            <a:r>
              <a:rPr lang="en-US" sz="2400" dirty="0"/>
              <a:t>, </a:t>
            </a:r>
            <a:r>
              <a:rPr lang="en-US" sz="2400" dirty="0" err="1"/>
              <a:t>jobs_count</a:t>
            </a:r>
            <a:r>
              <a:rPr lang="en-US" sz="2400" dirty="0"/>
              <a:t>, and </a:t>
            </a:r>
            <a:r>
              <a:rPr lang="en-US" sz="2400" dirty="0" err="1"/>
              <a:t>benefits_count</a:t>
            </a:r>
            <a:r>
              <a:rPr lang="en-US" sz="2400" dirty="0"/>
              <a:t> show relatively lower spread compared to </a:t>
            </a:r>
            <a:r>
              <a:rPr lang="en-US" sz="2400" dirty="0" err="1"/>
              <a:t>salary_count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7377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12A0-75D3-375E-90E6-CF9FE76B2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 Cleaning – Fixed Outliers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4AD71-52AB-CABD-A4A4-2D9622B67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0" y="1508760"/>
            <a:ext cx="3733800" cy="4334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applying IQR-based capping, the variability in </a:t>
            </a:r>
            <a:r>
              <a:rPr lang="en-US" dirty="0" err="1"/>
              <a:t>salary_count</a:t>
            </a:r>
            <a:r>
              <a:rPr lang="en-US" dirty="0"/>
              <a:t> has reduced significantly.</a:t>
            </a:r>
          </a:p>
          <a:p>
            <a:r>
              <a:rPr lang="en-US" dirty="0"/>
              <a:t>The distributions appear more stable and less skewed. </a:t>
            </a:r>
          </a:p>
          <a:p>
            <a:r>
              <a:rPr lang="en-US" dirty="0"/>
              <a:t>This preprocessing step ensures that extreme values do not negatively impact model performance.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9C14E-79D0-6A90-731F-8246FFA8E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49" y="1690688"/>
            <a:ext cx="599206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5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8B9D-E442-231E-EC8E-9F7EA2AD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18A3-DF40-2C1A-A79B-280F4BA9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 Cleaned data</a:t>
            </a: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02FE7-A394-CF85-23E1-13A4B11BE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14075"/>
            <a:ext cx="10583911" cy="53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85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D2ED-D0B9-E2EC-083D-2F064D6F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07E7-D5F3-DC7E-D15F-D38AA9E0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</a:rPr>
              <a:t>Univariate Analysis</a:t>
            </a:r>
            <a:r>
              <a:rPr lang="en-IN" b="1" dirty="0">
                <a:solidFill>
                  <a:srgbClr val="C00000"/>
                </a:solidFill>
              </a:rPr>
              <a:t> – </a:t>
            </a:r>
            <a:r>
              <a:rPr lang="en-IN" sz="3600" b="1" dirty="0">
                <a:solidFill>
                  <a:srgbClr val="C00000"/>
                </a:solidFill>
              </a:rPr>
              <a:t>Visualization</a:t>
            </a:r>
            <a:endParaRPr lang="en-IN" sz="3600" dirty="0">
              <a:solidFill>
                <a:srgbClr val="C0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3F12AA-55D6-3915-CFB0-77EC3E23699D}"/>
              </a:ext>
            </a:extLst>
          </p:cNvPr>
          <p:cNvGrpSpPr/>
          <p:nvPr/>
        </p:nvGrpSpPr>
        <p:grpSpPr>
          <a:xfrm>
            <a:off x="536481" y="1153210"/>
            <a:ext cx="10817319" cy="4317950"/>
            <a:chOff x="331243" y="1137970"/>
            <a:chExt cx="10817319" cy="506330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A3233C-EA42-EEFC-E8C1-144D90A6097A}"/>
                </a:ext>
              </a:extLst>
            </p:cNvPr>
            <p:cNvGrpSpPr/>
            <p:nvPr/>
          </p:nvGrpSpPr>
          <p:grpSpPr>
            <a:xfrm>
              <a:off x="384980" y="1137970"/>
              <a:ext cx="10564485" cy="2291030"/>
              <a:chOff x="384980" y="1137970"/>
              <a:chExt cx="10564485" cy="229103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E7153493-3E29-2F57-4BD0-BE9E2CBAE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4980" y="1137970"/>
                <a:ext cx="3201183" cy="2173979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B380971-06E8-E312-70DC-F3E33CCCA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8821" y="1137971"/>
                <a:ext cx="3029733" cy="2237168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F2D0CA9-48C8-3336-F6D9-BD518F6ED9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9732" y="1226073"/>
                <a:ext cx="3029733" cy="2202927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4096AF-E14F-A79C-2449-F8643A9E6577}"/>
                </a:ext>
              </a:extLst>
            </p:cNvPr>
            <p:cNvGrpSpPr/>
            <p:nvPr/>
          </p:nvGrpSpPr>
          <p:grpSpPr>
            <a:xfrm>
              <a:off x="331243" y="3669098"/>
              <a:ext cx="10817319" cy="2532176"/>
              <a:chOff x="331243" y="3669098"/>
              <a:chExt cx="10817319" cy="2532176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E9BD90D-6B00-B54D-D5DC-2F89DB3EC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243" y="3683386"/>
                <a:ext cx="3667359" cy="2517888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6338B65-9875-4321-D067-BCF54DB1A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8602" y="3735192"/>
                <a:ext cx="3201183" cy="2196674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3A16EC2-A6BA-0A0F-6D37-8A8AC45D8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37302" y="3669098"/>
                <a:ext cx="3311260" cy="232886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07567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07B35-C70D-080D-9F3D-DEE468B89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008997"/>
            <a:ext cx="10820400" cy="5167966"/>
          </a:xfrm>
        </p:spPr>
        <p:txBody>
          <a:bodyPr>
            <a:normAutofit lnSpcReduction="10000"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Reviews_count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–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Reviews_count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is positively skewed, with most values on the lower side and few high values.         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Salary_</a:t>
            </a:r>
            <a:r>
              <a:rPr lang="en-US" altLang="en-US" dirty="0" err="1">
                <a:latin typeface="inherit"/>
              </a:rPr>
              <a:t>Ratings</a:t>
            </a:r>
            <a:r>
              <a:rPr lang="en-US" altLang="en-US" dirty="0">
                <a:latin typeface="inherit"/>
              </a:rPr>
              <a:t> – Ratings are mostly concentrated in the higher range, showing a slightly left-skewed distribution.         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inherit"/>
              </a:rPr>
              <a:t>count –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Salary_count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is highly right-skewed, indicating many low values and few very high values.  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Interview_count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–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Interview_count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shows a right-skewed distribution with most observations at lower values.      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inherit"/>
              </a:rPr>
              <a:t>   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Jobs_count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–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Jobs_count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is slightly skewed to the right with majority of data in lower ranges.        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inherit"/>
              </a:rPr>
              <a:t> 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Benefits_count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– </a:t>
            </a:r>
            <a:r>
              <a:rPr lang="en-US" altLang="en-US" dirty="0" err="1">
                <a:solidFill>
                  <a:schemeClr val="tx1"/>
                </a:solidFill>
                <a:latin typeface="inherit"/>
              </a:rPr>
              <a:t>Benefits_count</a:t>
            </a:r>
            <a:r>
              <a:rPr lang="en-US" altLang="en-US" dirty="0">
                <a:solidFill>
                  <a:schemeClr val="tx1"/>
                </a:solidFill>
                <a:latin typeface="inherit"/>
              </a:rPr>
              <a:t> appears moderately right-skewed with fewer high-value observations.</a:t>
            </a:r>
          </a:p>
          <a:p>
            <a:endParaRPr lang="en-IN" dirty="0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DAA41FE0-6A69-4361-02E8-D1342C495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1663897"/>
            <a:ext cx="65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DA16CA7D-FA86-15FA-53E4-D869D4F9B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AutoShape 16" descr="🔹">
            <a:extLst>
              <a:ext uri="{FF2B5EF4-FFF2-40B4-BE49-F238E27FC236}">
                <a16:creationId xmlns:a16="http://schemas.microsoft.com/office/drawing/2014/main" id="{54C14BD2-ECBF-CEAF-04FB-4E06129F9C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8463" y="-190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17" descr="🔹">
            <a:extLst>
              <a:ext uri="{FF2B5EF4-FFF2-40B4-BE49-F238E27FC236}">
                <a16:creationId xmlns:a16="http://schemas.microsoft.com/office/drawing/2014/main" id="{B0946189-D6D7-32B9-EDA1-D859453A5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031913" y="-190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AutoShape 18" descr="🔹">
            <a:extLst>
              <a:ext uri="{FF2B5EF4-FFF2-40B4-BE49-F238E27FC236}">
                <a16:creationId xmlns:a16="http://schemas.microsoft.com/office/drawing/2014/main" id="{A9BD5E69-3853-A25F-6F5A-B574BDDAA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962938" y="-190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AutoShape 19" descr="🔹">
            <a:extLst>
              <a:ext uri="{FF2B5EF4-FFF2-40B4-BE49-F238E27FC236}">
                <a16:creationId xmlns:a16="http://schemas.microsoft.com/office/drawing/2014/main" id="{0D38C525-5E22-FB0F-0B63-B6D13AAA03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238450" y="-190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AutoShape 20" descr="🔹">
            <a:extLst>
              <a:ext uri="{FF2B5EF4-FFF2-40B4-BE49-F238E27FC236}">
                <a16:creationId xmlns:a16="http://schemas.microsoft.com/office/drawing/2014/main" id="{6BD5E779-94FB-CF94-1A36-80FBB7DDD2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50338" y="-190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39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7C2F-E802-C367-50EF-C0693C386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7FD1-D1E1-7233-515A-BBC81D22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Univariate Analysis</a:t>
            </a:r>
            <a:r>
              <a:rPr lang="en-IN" b="1" dirty="0">
                <a:solidFill>
                  <a:srgbClr val="C00000"/>
                </a:solidFill>
              </a:rPr>
              <a:t> – </a:t>
            </a:r>
            <a:r>
              <a:rPr lang="en-IN" sz="3600" b="1" dirty="0">
                <a:solidFill>
                  <a:srgbClr val="C00000"/>
                </a:solidFill>
              </a:rPr>
              <a:t>Visualization for categorical variable</a:t>
            </a:r>
            <a:endParaRPr lang="en-IN" sz="3600" dirty="0">
              <a:solidFill>
                <a:srgbClr val="C0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A2C7311-440A-99DB-37E9-74BA195969A6}"/>
              </a:ext>
            </a:extLst>
          </p:cNvPr>
          <p:cNvGrpSpPr/>
          <p:nvPr/>
        </p:nvGrpSpPr>
        <p:grpSpPr>
          <a:xfrm>
            <a:off x="1239389" y="930883"/>
            <a:ext cx="9757711" cy="3397277"/>
            <a:chOff x="1239389" y="930883"/>
            <a:chExt cx="9757711" cy="5398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220B2C-643C-ED3F-083F-42CC95FBC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9389" y="930883"/>
              <a:ext cx="4623116" cy="539848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EEA809F-4C33-E05E-A08A-EAAC25507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3972" y="1145566"/>
              <a:ext cx="4323128" cy="4183672"/>
            </a:xfrm>
            <a:prstGeom prst="rect">
              <a:avLst/>
            </a:prstGeom>
          </p:spPr>
        </p:pic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9CCC2AC7-75F5-26AE-BD42-1E3F02F2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209" y="4489026"/>
            <a:ext cx="987189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>The bar chart shows that IT Services &amp; Consulting has the highest count among sectors, followed by Auto Components and NBFC, indicating IT dominates the dataset.”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481924-0A99-EA9B-2B00-EFBE01ED2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69720" y="-906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g sans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46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54A6-DB05-4C89-A321-67C4C014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C8B6-D092-A867-B7A0-B1AC703B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Bivariate Analysis</a:t>
            </a:r>
            <a:r>
              <a:rPr lang="en-IN" b="1" dirty="0">
                <a:solidFill>
                  <a:srgbClr val="C00000"/>
                </a:solidFill>
              </a:rPr>
              <a:t> – </a:t>
            </a:r>
            <a:r>
              <a:rPr lang="en-IN" sz="3600" b="1" dirty="0">
                <a:solidFill>
                  <a:srgbClr val="C00000"/>
                </a:solidFill>
              </a:rPr>
              <a:t>Visualization (Num-Cat)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CA74E-F043-0678-B7F5-4FE080E24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335" y="948384"/>
            <a:ext cx="8757946" cy="4052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57216-D851-52C9-99B7-08AC8631511C}"/>
              </a:ext>
            </a:extLst>
          </p:cNvPr>
          <p:cNvSpPr txBox="1"/>
          <p:nvPr/>
        </p:nvSpPr>
        <p:spPr>
          <a:xfrm rot="10800000" flipV="1">
            <a:off x="2179320" y="4833272"/>
            <a:ext cx="875794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Calculates average rating per company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Selects top 5 highest-rated companies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Creates a boxplot showing rating distribution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285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5DE5-272F-8E9E-456C-1857B6DD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942D-6C21-AE84-D5B2-B15204A9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Bivariate Analysis</a:t>
            </a:r>
            <a:r>
              <a:rPr lang="en-IN" b="1" dirty="0">
                <a:solidFill>
                  <a:srgbClr val="C00000"/>
                </a:solidFill>
              </a:rPr>
              <a:t> – </a:t>
            </a:r>
            <a:r>
              <a:rPr lang="en-IN" sz="3600" b="1" dirty="0">
                <a:solidFill>
                  <a:srgbClr val="C00000"/>
                </a:solidFill>
              </a:rPr>
              <a:t>Visualization for (Num-Num)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D6820-15E0-34EC-A1FE-CC2EE0C9C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8" y="1132357"/>
            <a:ext cx="6274372" cy="50258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9DF8F-31D6-ED8A-7FA1-32DDB6E944D0}"/>
              </a:ext>
            </a:extLst>
          </p:cNvPr>
          <p:cNvSpPr txBox="1"/>
          <p:nvPr/>
        </p:nvSpPr>
        <p:spPr>
          <a:xfrm>
            <a:off x="6690360" y="1132357"/>
            <a:ext cx="49072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Strong positive correlation exists between </a:t>
            </a:r>
            <a:r>
              <a:rPr lang="en-US" sz="2000" b="1" dirty="0" err="1"/>
              <a:t>reviews_count</a:t>
            </a:r>
            <a:r>
              <a:rPr lang="en-US" sz="2000" b="1" dirty="0"/>
              <a:t>, </a:t>
            </a:r>
            <a:r>
              <a:rPr lang="en-US" sz="2000" b="1" dirty="0" err="1"/>
              <a:t>salary_count</a:t>
            </a:r>
            <a:r>
              <a:rPr lang="en-US" sz="2000" b="1" dirty="0"/>
              <a:t>, </a:t>
            </a:r>
            <a:r>
              <a:rPr lang="en-US" sz="2000" b="1" dirty="0" err="1"/>
              <a:t>interview_count</a:t>
            </a:r>
            <a:r>
              <a:rPr lang="en-US" sz="2000" b="1" dirty="0"/>
              <a:t>, and </a:t>
            </a:r>
            <a:r>
              <a:rPr lang="en-US" sz="2000" b="1" dirty="0" err="1"/>
              <a:t>benefits_count</a:t>
            </a:r>
            <a:r>
              <a:rPr lang="en-US" sz="2000" b="1" dirty="0"/>
              <a:t> </a:t>
            </a:r>
            <a:r>
              <a:rPr lang="en-US" sz="2000" dirty="0"/>
              <a:t>, indicating these engagement-related features move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page_num</a:t>
            </a:r>
            <a:r>
              <a:rPr lang="en-US" sz="2000" b="1" dirty="0"/>
              <a:t> </a:t>
            </a:r>
            <a:r>
              <a:rPr lang="en-US" sz="2000" dirty="0"/>
              <a:t>shows strong negative correlation with most count features , suggesting higher page numbers are associated with lower counts.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ratings</a:t>
            </a:r>
            <a:r>
              <a:rPr lang="en-US" sz="2000" dirty="0"/>
              <a:t> have very weak correlation with other variables, indicating ratings are relatively independent of review, salary, and job-related counts.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01724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980C6-88FF-EC53-9161-4681F084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7923-D5DC-2FF1-E2F9-0A4F1595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80"/>
            <a:ext cx="10515600" cy="697837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Bivariate Analysis</a:t>
            </a:r>
            <a:r>
              <a:rPr lang="en-IN" b="1" dirty="0">
                <a:solidFill>
                  <a:srgbClr val="C00000"/>
                </a:solidFill>
              </a:rPr>
              <a:t> – </a:t>
            </a:r>
            <a:r>
              <a:rPr lang="en-IN" sz="3600" b="1" dirty="0">
                <a:solidFill>
                  <a:srgbClr val="C00000"/>
                </a:solidFill>
              </a:rPr>
              <a:t>Visualization for (cat-cat)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61889-2309-675A-D322-FC6F08F7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42" y="777917"/>
            <a:ext cx="9808738" cy="4432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0300CD-0464-EFC6-9AD7-FBA0ADF3047C}"/>
              </a:ext>
            </a:extLst>
          </p:cNvPr>
          <p:cNvSpPr txBox="1"/>
          <p:nvPr/>
        </p:nvSpPr>
        <p:spPr>
          <a:xfrm rot="10800000" flipV="1">
            <a:off x="579120" y="5209700"/>
            <a:ext cx="10195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the most frequent 10 companies in the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identify dominant companies.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Useful for detecting market concentration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60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EEAD-A15C-BE9E-171C-EB8C0BD5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9266-621C-6026-1E71-0E9A5B10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Conclusion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4B442-D495-09DF-DC5F-8DD6E4BD2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Successfully scraped company data from the </a:t>
            </a:r>
            <a:r>
              <a:rPr lang="en-US" sz="2400" dirty="0" err="1"/>
              <a:t>AmbitionBox</a:t>
            </a:r>
            <a:r>
              <a:rPr lang="en-US" sz="2400" dirty="0"/>
              <a:t> website using Python.</a:t>
            </a:r>
          </a:p>
          <a:p>
            <a:pPr algn="just"/>
            <a:r>
              <a:rPr lang="en-US" sz="2400" dirty="0"/>
              <a:t>Converted raw HTML data into a structured dataset (CSV/</a:t>
            </a:r>
            <a:r>
              <a:rPr lang="en-US" sz="2400" dirty="0" err="1"/>
              <a:t>DataFrame</a:t>
            </a:r>
            <a:r>
              <a:rPr lang="en-US" sz="2400" dirty="0"/>
              <a:t>).</a:t>
            </a:r>
          </a:p>
          <a:p>
            <a:pPr algn="just"/>
            <a:r>
              <a:rPr lang="en-US" sz="2400" dirty="0"/>
              <a:t>Cleaned the data by handling missing values, duplicates, and inconsistent formats.</a:t>
            </a:r>
          </a:p>
          <a:p>
            <a:pPr algn="just"/>
            <a:r>
              <a:rPr lang="en-US" sz="2400" dirty="0"/>
              <a:t>Analyzed company ratings, reviews, salaries, interviews, and jobs.</a:t>
            </a:r>
          </a:p>
          <a:p>
            <a:pPr algn="just"/>
            <a:r>
              <a:rPr lang="en-US" sz="2400" dirty="0"/>
              <a:t>Identified trends, variations, and outliers across different companies.</a:t>
            </a:r>
          </a:p>
          <a:p>
            <a:pPr algn="just"/>
            <a:r>
              <a:rPr lang="en-US" sz="2400" dirty="0"/>
              <a:t>Gained hands-on experience in web scraping, data manipulation, and EDA.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61324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813</Words>
  <Application>Microsoft Office PowerPoint</Application>
  <PresentationFormat>Widescreen</PresentationFormat>
  <Paragraphs>79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Arial</vt:lpstr>
      <vt:lpstr>Libre Baskerville</vt:lpstr>
      <vt:lpstr>gg sans</vt:lpstr>
      <vt:lpstr>inherit</vt:lpstr>
      <vt:lpstr>Office Theme</vt:lpstr>
      <vt:lpstr>PowerPoint Presentation</vt:lpstr>
      <vt:lpstr>Website - Ambition Box</vt:lpstr>
      <vt:lpstr>Objective of the Project</vt:lpstr>
      <vt:lpstr>Business Problem</vt:lpstr>
      <vt:lpstr>Web Scraping – Details</vt:lpstr>
      <vt:lpstr>Webscraping</vt:lpstr>
      <vt:lpstr>Raw Data</vt:lpstr>
      <vt:lpstr>Data Cleaning</vt:lpstr>
      <vt:lpstr>Data Cleaning – Detecting Outliers</vt:lpstr>
      <vt:lpstr>Data Cleaning – Fixed Outliers</vt:lpstr>
      <vt:lpstr> Cleaned data</vt:lpstr>
      <vt:lpstr>Univariate Analysis – Visualization</vt:lpstr>
      <vt:lpstr>PowerPoint Presentation</vt:lpstr>
      <vt:lpstr>Univariate Analysis – Visualization for categorical variable</vt:lpstr>
      <vt:lpstr>Bivariate Analysis – Visualization (Num-Cat)</vt:lpstr>
      <vt:lpstr>Bivariate Analysis – Visualization for (Num-Num)</vt:lpstr>
      <vt:lpstr>Bivariate Analysis – Visualization for (cat-cat)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Administrator</cp:lastModifiedBy>
  <cp:revision>10</cp:revision>
  <dcterms:created xsi:type="dcterms:W3CDTF">2021-02-16T05:19:01Z</dcterms:created>
  <dcterms:modified xsi:type="dcterms:W3CDTF">2026-02-25T11:36:20Z</dcterms:modified>
</cp:coreProperties>
</file>